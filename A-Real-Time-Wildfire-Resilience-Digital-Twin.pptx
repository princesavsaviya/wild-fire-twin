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DM Sans" panose="020F0502020204030204" pitchFamily="2" charset="0"/>
      <p:regular r:id="rId17"/>
    </p:embeddedFont>
    <p:embeddedFont>
      <p:font typeface="Space Grotesk Medium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7297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jpeg"/><Relationship Id="rId7" Type="http://schemas.openxmlformats.org/officeDocument/2006/relationships/image" Target="../media/image16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11" Type="http://schemas.openxmlformats.org/officeDocument/2006/relationships/image" Target="../media/image19.jpeg"/><Relationship Id="rId5" Type="http://schemas.openxmlformats.org/officeDocument/2006/relationships/image" Target="../media/image14.svg"/><Relationship Id="rId10" Type="http://schemas.openxmlformats.org/officeDocument/2006/relationships/image" Target="../media/image4.png"/><Relationship Id="rId4" Type="http://schemas.openxmlformats.org/officeDocument/2006/relationships/image" Target="../media/image13.png"/><Relationship Id="rId9" Type="http://schemas.openxmlformats.org/officeDocument/2006/relationships/image" Target="../media/image18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10" Type="http://schemas.openxmlformats.org/officeDocument/2006/relationships/image" Target="../media/image26.png"/><Relationship Id="rId4" Type="http://schemas.openxmlformats.org/officeDocument/2006/relationships/image" Target="../media/image21.svg"/><Relationship Id="rId9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4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177647"/>
            <a:ext cx="7556421" cy="5444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700"/>
              </a:lnSpc>
              <a:buNone/>
            </a:pPr>
            <a:r>
              <a:rPr lang="en-US" sz="8900" dirty="0">
                <a:solidFill>
                  <a:srgbClr val="171717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A Real-Time Wildfire Resilience Digital Twin</a:t>
            </a:r>
            <a:endParaRPr lang="en-US" sz="8900" dirty="0"/>
          </a:p>
        </p:txBody>
      </p:sp>
      <p:sp>
        <p:nvSpPr>
          <p:cNvPr id="4" name="Shape 1"/>
          <p:cNvSpPr/>
          <p:nvPr/>
        </p:nvSpPr>
        <p:spPr>
          <a:xfrm>
            <a:off x="6249710" y="6931343"/>
            <a:ext cx="60960" cy="704969"/>
          </a:xfrm>
          <a:prstGeom prst="rect">
            <a:avLst/>
          </a:prstGeom>
          <a:solidFill>
            <a:srgbClr val="1717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6567964" y="6961823"/>
            <a:ext cx="3348633" cy="253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2A2A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Group: N-Dimensional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567964" y="7227774"/>
            <a:ext cx="3348633" cy="253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2A2A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Group Number: 3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10169604" y="6931343"/>
            <a:ext cx="60960" cy="704969"/>
          </a:xfrm>
          <a:prstGeom prst="rect">
            <a:avLst/>
          </a:prstGeom>
          <a:solidFill>
            <a:srgbClr val="4A5F7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10487858" y="6961823"/>
            <a:ext cx="3348752" cy="507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2A2A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Prince Savsaviya · Viswanadh R. Challa · Anish Ashok Kale · Ali Rezayi Nejad</a:t>
            </a:r>
            <a:endParaRPr lang="en-US" sz="14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343A3F0-C802-A804-1E68-257B8EAEEF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V="1">
            <a:off x="12862084" y="7481734"/>
            <a:ext cx="1714531" cy="65634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D2F2D01-21E7-557B-2D6E-594032CA3393}"/>
              </a:ext>
            </a:extLst>
          </p:cNvPr>
          <p:cNvSpPr txBox="1"/>
          <p:nvPr/>
        </p:nvSpPr>
        <p:spPr>
          <a:xfrm>
            <a:off x="14031590" y="7625240"/>
            <a:ext cx="3803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93790" y="1175623"/>
            <a:ext cx="1570077" cy="389930"/>
          </a:xfrm>
          <a:prstGeom prst="roundRect">
            <a:avLst>
              <a:gd name="adj" fmla="val 6981"/>
            </a:avLst>
          </a:prstGeom>
          <a:solidFill>
            <a:srgbClr val="E6E6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1"/>
          <p:cNvSpPr/>
          <p:nvPr/>
        </p:nvSpPr>
        <p:spPr>
          <a:xfrm>
            <a:off x="929878" y="1243608"/>
            <a:ext cx="1297900" cy="253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2A2A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INTRODUCTION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93790" y="1656278"/>
            <a:ext cx="6887051" cy="680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50"/>
              </a:lnSpc>
              <a:buNone/>
            </a:pPr>
            <a:r>
              <a:rPr lang="en-US" sz="4450" dirty="0">
                <a:solidFill>
                  <a:srgbClr val="171717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Background &amp; Motivation</a:t>
            </a:r>
            <a:endParaRPr lang="en-US" sz="4450" dirty="0"/>
          </a:p>
        </p:txBody>
      </p:sp>
      <p:sp>
        <p:nvSpPr>
          <p:cNvPr id="6" name="Text 3"/>
          <p:cNvSpPr/>
          <p:nvPr/>
        </p:nvSpPr>
        <p:spPr>
          <a:xfrm>
            <a:off x="793790" y="2427446"/>
            <a:ext cx="2835235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200" dirty="0">
                <a:solidFill>
                  <a:srgbClr val="171717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The Threat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93790" y="3107769"/>
            <a:ext cx="75564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750" dirty="0">
                <a:solidFill>
                  <a:srgbClr val="2A2A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Wildfires increasingly threaten infrastructure, ecosystems, and human safety, particularly in urban-dense regions like California.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793790" y="4083010"/>
            <a:ext cx="2835235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200" dirty="0">
                <a:solidFill>
                  <a:srgbClr val="171717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The Gap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93790" y="4763333"/>
            <a:ext cx="75564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750" dirty="0">
                <a:solidFill>
                  <a:srgbClr val="2A2A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Current monitoring systems often lack real-time data integration and interactive decision-making capabilities.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793790" y="5738574"/>
            <a:ext cx="2835235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200" dirty="0">
                <a:solidFill>
                  <a:srgbClr val="171717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The Solution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793790" y="6418898"/>
            <a:ext cx="75564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750" dirty="0">
                <a:solidFill>
                  <a:srgbClr val="2A2A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"Digital Twin" that mirrors real-world environments in real time to provide updated risk representations.</a:t>
            </a:r>
            <a:endParaRPr lang="en-US" sz="175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40BF8E2-72D6-EEB4-CB4E-C8164209A3AC}"/>
              </a:ext>
            </a:extLst>
          </p:cNvPr>
          <p:cNvSpPr txBox="1"/>
          <p:nvPr/>
        </p:nvSpPr>
        <p:spPr>
          <a:xfrm>
            <a:off x="14031590" y="7625240"/>
            <a:ext cx="3803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93790" y="3343870"/>
            <a:ext cx="777121" cy="339566"/>
          </a:xfrm>
          <a:prstGeom prst="roundRect">
            <a:avLst>
              <a:gd name="adj" fmla="val 7214"/>
            </a:avLst>
          </a:prstGeom>
          <a:solidFill>
            <a:srgbClr val="E6E6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1"/>
          <p:cNvSpPr/>
          <p:nvPr/>
        </p:nvSpPr>
        <p:spPr>
          <a:xfrm>
            <a:off x="916186" y="3405068"/>
            <a:ext cx="532328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2A2A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FOCUS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793790" y="3756898"/>
            <a:ext cx="9396293" cy="612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4000" dirty="0">
                <a:solidFill>
                  <a:srgbClr val="171717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Project Overview &amp; Big Data Relevance</a:t>
            </a:r>
            <a:endParaRPr lang="en-US" sz="4000" dirty="0"/>
          </a:p>
        </p:txBody>
      </p:sp>
      <p:sp>
        <p:nvSpPr>
          <p:cNvPr id="6" name="Shape 3"/>
          <p:cNvSpPr/>
          <p:nvPr/>
        </p:nvSpPr>
        <p:spPr>
          <a:xfrm>
            <a:off x="793790" y="4644866"/>
            <a:ext cx="6429494" cy="1304449"/>
          </a:xfrm>
          <a:prstGeom prst="roundRect">
            <a:avLst>
              <a:gd name="adj" fmla="val 8412"/>
            </a:avLst>
          </a:prstGeom>
          <a:solidFill>
            <a:srgbClr val="FFFFFF"/>
          </a:solidFill>
          <a:ln w="22860">
            <a:solidFill>
              <a:srgbClr val="1717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770930" y="4644866"/>
            <a:ext cx="91440" cy="1304449"/>
          </a:xfrm>
          <a:prstGeom prst="roundRect">
            <a:avLst>
              <a:gd name="adj" fmla="val 33488"/>
            </a:avLst>
          </a:prstGeom>
          <a:solidFill>
            <a:srgbClr val="1717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1089303" y="4871799"/>
            <a:ext cx="2551748" cy="306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dirty="0">
                <a:solidFill>
                  <a:srgbClr val="2A2A2A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System Goal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089303" y="5288042"/>
            <a:ext cx="590704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2A2A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Support rapid situational awareness through streaming data ingestion and geospatial analytics.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7406997" y="4644866"/>
            <a:ext cx="6429613" cy="1304449"/>
          </a:xfrm>
          <a:prstGeom prst="roundRect">
            <a:avLst>
              <a:gd name="adj" fmla="val 8412"/>
            </a:avLst>
          </a:prstGeom>
          <a:solidFill>
            <a:srgbClr val="FFFFFF"/>
          </a:solidFill>
          <a:ln w="22860">
            <a:solidFill>
              <a:srgbClr val="4A5F7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7384137" y="4644866"/>
            <a:ext cx="91440" cy="1304449"/>
          </a:xfrm>
          <a:prstGeom prst="roundRect">
            <a:avLst>
              <a:gd name="adj" fmla="val 33488"/>
            </a:avLst>
          </a:prstGeom>
          <a:solidFill>
            <a:srgbClr val="4A5F7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7702510" y="4871799"/>
            <a:ext cx="2551748" cy="306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dirty="0">
                <a:solidFill>
                  <a:srgbClr val="2A2A2A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Volume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7702510" y="5288042"/>
            <a:ext cx="5907167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2A2A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Processing over 11.5 million building polygons for the entire state of California.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793790" y="6133028"/>
            <a:ext cx="6429494" cy="1304449"/>
          </a:xfrm>
          <a:prstGeom prst="roundRect">
            <a:avLst>
              <a:gd name="adj" fmla="val 8412"/>
            </a:avLst>
          </a:prstGeom>
          <a:solidFill>
            <a:srgbClr val="FFFFFF"/>
          </a:solidFill>
          <a:ln w="22860">
            <a:solidFill>
              <a:srgbClr val="4A5F7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2"/>
          <p:cNvSpPr/>
          <p:nvPr/>
        </p:nvSpPr>
        <p:spPr>
          <a:xfrm>
            <a:off x="770930" y="6133028"/>
            <a:ext cx="91440" cy="1304449"/>
          </a:xfrm>
          <a:prstGeom prst="roundRect">
            <a:avLst>
              <a:gd name="adj" fmla="val 33488"/>
            </a:avLst>
          </a:prstGeom>
          <a:solidFill>
            <a:srgbClr val="4A5F7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1089303" y="6359962"/>
            <a:ext cx="2551748" cy="306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dirty="0">
                <a:solidFill>
                  <a:srgbClr val="2A2A2A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Velocity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1089303" y="6776204"/>
            <a:ext cx="5907048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2A2A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Ingesting high-velocity fire events via Apache Kafka streaming pipeline.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7406997" y="6133028"/>
            <a:ext cx="6429613" cy="1304449"/>
          </a:xfrm>
          <a:prstGeom prst="roundRect">
            <a:avLst>
              <a:gd name="adj" fmla="val 8412"/>
            </a:avLst>
          </a:prstGeom>
          <a:solidFill>
            <a:srgbClr val="FFFFFF"/>
          </a:solidFill>
          <a:ln w="22860">
            <a:solidFill>
              <a:srgbClr val="B5B5B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6"/>
          <p:cNvSpPr/>
          <p:nvPr/>
        </p:nvSpPr>
        <p:spPr>
          <a:xfrm>
            <a:off x="7384137" y="6133028"/>
            <a:ext cx="91440" cy="1304449"/>
          </a:xfrm>
          <a:prstGeom prst="roundRect">
            <a:avLst>
              <a:gd name="adj" fmla="val 33488"/>
            </a:avLst>
          </a:prstGeom>
          <a:solidFill>
            <a:srgbClr val="B5B5B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7702510" y="6359962"/>
            <a:ext cx="2551748" cy="306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dirty="0">
                <a:solidFill>
                  <a:srgbClr val="2A2A2A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Variety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7702510" y="6776204"/>
            <a:ext cx="5907167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2A2A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Fusing dynamic sensor feeds (temperature, wind) with static infrastructure data.</a:t>
            </a:r>
            <a:endParaRPr lang="en-US" sz="125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2EA34949-590A-553B-49FE-12E011211A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V="1">
            <a:off x="12862084" y="7481734"/>
            <a:ext cx="1714531" cy="656344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D010B4DC-E716-79E9-06C4-8071FF70F559}"/>
              </a:ext>
            </a:extLst>
          </p:cNvPr>
          <p:cNvSpPr txBox="1"/>
          <p:nvPr/>
        </p:nvSpPr>
        <p:spPr>
          <a:xfrm>
            <a:off x="14031590" y="7625240"/>
            <a:ext cx="3803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A0B3B4C-CBFD-ABDC-F0A1-31BBBD2FEBDF}"/>
              </a:ext>
            </a:extLst>
          </p:cNvPr>
          <p:cNvSpPr/>
          <p:nvPr/>
        </p:nvSpPr>
        <p:spPr>
          <a:xfrm>
            <a:off x="-53786" y="-17393"/>
            <a:ext cx="14793516" cy="2590213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7596" y="965835"/>
            <a:ext cx="1217414" cy="373023"/>
          </a:xfrm>
          <a:prstGeom prst="roundRect">
            <a:avLst>
              <a:gd name="adj" fmla="val 7055"/>
            </a:avLst>
          </a:prstGeom>
          <a:solidFill>
            <a:srgbClr val="E6E6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899160" y="1031558"/>
            <a:ext cx="954286" cy="241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2A2A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LITERATURE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767596" y="1423630"/>
            <a:ext cx="5482828" cy="657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en-US" sz="4300" dirty="0">
                <a:solidFill>
                  <a:srgbClr val="171717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Related Work</a:t>
            </a:r>
            <a:endParaRPr lang="en-US" sz="43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596" y="2792254"/>
            <a:ext cx="8324612" cy="328410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062566" y="3929633"/>
            <a:ext cx="1656042" cy="4325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400" dirty="0">
                <a:solidFill>
                  <a:srgbClr val="171717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Predictive Modeling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2062566" y="4426320"/>
            <a:ext cx="1656042" cy="354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100" dirty="0">
                <a:solidFill>
                  <a:srgbClr val="2A2A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Next-day wildfire spread forecasts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121416" y="3910356"/>
            <a:ext cx="1656043" cy="4325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400" dirty="0">
                <a:solidFill>
                  <a:srgbClr val="171717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Digital Twin Frameworks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121416" y="4407044"/>
            <a:ext cx="1656043" cy="53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100" dirty="0">
                <a:solidFill>
                  <a:srgbClr val="2A2A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Conceptual architectures for simulation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204299" y="3929633"/>
            <a:ext cx="1656043" cy="2162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400" dirty="0">
                <a:solidFill>
                  <a:srgbClr val="171717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Research Gap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204299" y="4210021"/>
            <a:ext cx="1656043" cy="354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100" dirty="0">
                <a:solidFill>
                  <a:srgbClr val="2A2A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end-to-end live implementation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67596" y="6314837"/>
            <a:ext cx="8324612" cy="603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700" dirty="0">
                <a:solidFill>
                  <a:srgbClr val="2A2A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existing body of work is divided between predictive models and theoretical frameworks, leaving a gap for concrete, streaming-backed implementations.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9477018" y="2399586"/>
            <a:ext cx="4551283" cy="4864179"/>
          </a:xfrm>
          <a:prstGeom prst="roundRect">
            <a:avLst>
              <a:gd name="adj" fmla="val 723"/>
            </a:avLst>
          </a:prstGeom>
          <a:solidFill>
            <a:srgbClr val="4A5F7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9696331" y="2611517"/>
            <a:ext cx="2741414" cy="328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150" dirty="0">
                <a:solidFill>
                  <a:srgbClr val="FFFF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Current Landscape</a:t>
            </a:r>
            <a:endParaRPr lang="en-US" sz="2150" dirty="0"/>
          </a:p>
        </p:txBody>
      </p:sp>
      <p:sp>
        <p:nvSpPr>
          <p:cNvPr id="15" name="Text 12"/>
          <p:cNvSpPr/>
          <p:nvPr/>
        </p:nvSpPr>
        <p:spPr>
          <a:xfrm>
            <a:off x="9696331" y="3152418"/>
            <a:ext cx="4112657" cy="19600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Predictive modeling approaches (e.g., Next Day Wildfire Spread)</a:t>
            </a:r>
            <a:endParaRPr lang="en-US" sz="1700" dirty="0"/>
          </a:p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Conceptual digital twin frameworks without live implementation</a:t>
            </a:r>
            <a:endParaRPr lang="en-US" sz="1700" dirty="0"/>
          </a:p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end-to-end system coupling visualization to a streaming backend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9696331" y="5324356"/>
            <a:ext cx="2741414" cy="328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150" dirty="0">
                <a:solidFill>
                  <a:srgbClr val="FFFF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Our Contribution</a:t>
            </a:r>
            <a:endParaRPr lang="en-US" sz="2150" dirty="0"/>
          </a:p>
        </p:txBody>
      </p:sp>
      <p:sp>
        <p:nvSpPr>
          <p:cNvPr id="17" name="Text 14"/>
          <p:cNvSpPr/>
          <p:nvPr/>
        </p:nvSpPr>
        <p:spPr>
          <a:xfrm>
            <a:off x="9696331" y="5865257"/>
            <a:ext cx="4112657" cy="1207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concrete, end-to-end implementation connecting live event ingestion to an infrastructure-aware dashboard with multi-resolution context.</a:t>
            </a:r>
            <a:endParaRPr lang="en-US" sz="17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BDEB4E8-127B-F3BA-C728-FF4C824A62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V="1">
            <a:off x="12862084" y="7481734"/>
            <a:ext cx="1714531" cy="656344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3EFEB88B-DBD1-E759-2C76-5AAF9853C40A}"/>
              </a:ext>
            </a:extLst>
          </p:cNvPr>
          <p:cNvSpPr txBox="1"/>
          <p:nvPr/>
        </p:nvSpPr>
        <p:spPr>
          <a:xfrm>
            <a:off x="14031590" y="7625240"/>
            <a:ext cx="3803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079302"/>
            <a:ext cx="1558052" cy="389930"/>
          </a:xfrm>
          <a:prstGeom prst="roundRect">
            <a:avLst>
              <a:gd name="adj" fmla="val 6981"/>
            </a:avLst>
          </a:prstGeom>
          <a:solidFill>
            <a:srgbClr val="E6E6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929878" y="1147286"/>
            <a:ext cx="1285875" cy="253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2A2A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ARCHITECTURE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559957"/>
            <a:ext cx="5670590" cy="680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50"/>
              </a:lnSpc>
              <a:buNone/>
            </a:pPr>
            <a:r>
              <a:rPr lang="en-US" sz="4450" dirty="0">
                <a:solidFill>
                  <a:srgbClr val="171717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System Architecture</a:t>
            </a:r>
            <a:endParaRPr lang="en-US" sz="44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580561"/>
            <a:ext cx="3048000" cy="3048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93790" y="5912048"/>
            <a:ext cx="2835235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200" dirty="0">
                <a:solidFill>
                  <a:srgbClr val="2A2A2A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Ingestion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93790" y="6388298"/>
            <a:ext cx="3048000" cy="761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2A2A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Kafka topic </a:t>
            </a:r>
            <a:r>
              <a:rPr lang="en-US" sz="1400" dirty="0">
                <a:solidFill>
                  <a:srgbClr val="2A2A2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fire_events</a:t>
            </a:r>
            <a:r>
              <a:rPr lang="en-US" sz="1400" dirty="0">
                <a:solidFill>
                  <a:srgbClr val="2A2A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captures high-velocity fire event streams in real time.</a:t>
            </a:r>
            <a:endParaRPr lang="en-US" sz="14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5278" y="2580561"/>
            <a:ext cx="3048119" cy="304811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125278" y="5912168"/>
            <a:ext cx="2835235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200" dirty="0">
                <a:solidFill>
                  <a:srgbClr val="2A2A2A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Processing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4125278" y="6388417"/>
            <a:ext cx="3048119" cy="761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2A2A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Apache Spark &amp; Sedona perform spatial cross-referencing against building and POI data.</a:t>
            </a:r>
            <a:endParaRPr lang="en-US" sz="14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6884" y="2580561"/>
            <a:ext cx="3048119" cy="304811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456884" y="5912168"/>
            <a:ext cx="2835235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200" dirty="0">
                <a:solidFill>
                  <a:srgbClr val="2A2A2A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Storage</a:t>
            </a:r>
            <a:endParaRPr lang="en-US" sz="2200" dirty="0"/>
          </a:p>
        </p:txBody>
      </p:sp>
      <p:sp>
        <p:nvSpPr>
          <p:cNvPr id="13" name="Text 8"/>
          <p:cNvSpPr/>
          <p:nvPr/>
        </p:nvSpPr>
        <p:spPr>
          <a:xfrm>
            <a:off x="7456884" y="6388417"/>
            <a:ext cx="3048119" cy="761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2A2A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DuckDB for live alerts; GeoParquet for static building context across California.</a:t>
            </a:r>
            <a:endParaRPr lang="en-US" sz="14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88491" y="2580561"/>
            <a:ext cx="3048119" cy="3048119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788491" y="5912168"/>
            <a:ext cx="2835235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200" dirty="0">
                <a:solidFill>
                  <a:srgbClr val="2A2A2A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Visualization</a:t>
            </a:r>
            <a:endParaRPr lang="en-US" sz="2200" dirty="0"/>
          </a:p>
        </p:txBody>
      </p:sp>
      <p:sp>
        <p:nvSpPr>
          <p:cNvPr id="16" name="Text 10"/>
          <p:cNvSpPr/>
          <p:nvPr/>
        </p:nvSpPr>
        <p:spPr>
          <a:xfrm>
            <a:off x="10788491" y="6388417"/>
            <a:ext cx="3048119" cy="761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2A2A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real-time dashboard renders fire risk zones, building alerts, and infrastructure context.</a:t>
            </a:r>
            <a:endParaRPr lang="en-US" sz="14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4EDBCB6-216C-7790-A46C-B374A519AD0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V="1">
            <a:off x="12862084" y="7481734"/>
            <a:ext cx="1714531" cy="656344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C6520B39-B5BA-D61F-B0B9-E52726410D9E}"/>
              </a:ext>
            </a:extLst>
          </p:cNvPr>
          <p:cNvSpPr txBox="1"/>
          <p:nvPr/>
        </p:nvSpPr>
        <p:spPr>
          <a:xfrm>
            <a:off x="14031590" y="7625240"/>
            <a:ext cx="3803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88670" y="2879646"/>
            <a:ext cx="958215" cy="266343"/>
          </a:xfrm>
          <a:prstGeom prst="roundRect">
            <a:avLst>
              <a:gd name="adj" fmla="val 7615"/>
            </a:avLst>
          </a:prstGeom>
          <a:solidFill>
            <a:srgbClr val="E6E6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1"/>
          <p:cNvSpPr/>
          <p:nvPr/>
        </p:nvSpPr>
        <p:spPr>
          <a:xfrm>
            <a:off x="889992" y="2930247"/>
            <a:ext cx="755571" cy="1651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dirty="0">
                <a:solidFill>
                  <a:srgbClr val="2A2A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MAIN WORK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788670" y="3196352"/>
            <a:ext cx="6285905" cy="506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50"/>
              </a:lnSpc>
              <a:buNone/>
            </a:pPr>
            <a:r>
              <a:rPr lang="en-US" sz="3300" dirty="0">
                <a:solidFill>
                  <a:srgbClr val="171717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Data Engineering &amp; Enrichment</a:t>
            </a:r>
            <a:endParaRPr lang="en-US" sz="3300" dirty="0"/>
          </a:p>
        </p:txBody>
      </p:sp>
      <p:sp>
        <p:nvSpPr>
          <p:cNvPr id="6" name="Shape 3"/>
          <p:cNvSpPr/>
          <p:nvPr/>
        </p:nvSpPr>
        <p:spPr>
          <a:xfrm>
            <a:off x="788670" y="3845004"/>
            <a:ext cx="6724293" cy="1175980"/>
          </a:xfrm>
          <a:prstGeom prst="roundRect">
            <a:avLst>
              <a:gd name="adj" fmla="val 2156"/>
            </a:avLst>
          </a:prstGeom>
          <a:solidFill>
            <a:srgbClr val="FFFFFF"/>
          </a:solidFill>
          <a:ln w="22860">
            <a:solidFill>
              <a:srgbClr val="B5B5B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811530" y="3867864"/>
            <a:ext cx="676037" cy="1130260"/>
          </a:xfrm>
          <a:prstGeom prst="rect">
            <a:avLst/>
          </a:prstGeom>
          <a:solidFill>
            <a:srgbClr val="B5B5B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2747" y="4306253"/>
            <a:ext cx="253484" cy="2534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13416" y="4036814"/>
            <a:ext cx="2564249" cy="253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650" dirty="0">
                <a:solidFill>
                  <a:srgbClr val="2A2A2A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11.5M Building Footprints</a:t>
            </a:r>
            <a:endParaRPr lang="en-US" sz="1650" dirty="0"/>
          </a:p>
        </p:txBody>
      </p:sp>
      <p:sp>
        <p:nvSpPr>
          <p:cNvPr id="10" name="Text 6"/>
          <p:cNvSpPr/>
          <p:nvPr/>
        </p:nvSpPr>
        <p:spPr>
          <a:xfrm>
            <a:off x="1613416" y="4416266"/>
            <a:ext cx="5707737" cy="412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dirty="0">
                <a:solidFill>
                  <a:srgbClr val="2A2A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Converted Microsoft building polygons to Sedona-compatible GeoParquet format.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788670" y="5146834"/>
            <a:ext cx="6724293" cy="1014055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22860">
            <a:solidFill>
              <a:srgbClr val="4A5F7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8"/>
          <p:cNvSpPr/>
          <p:nvPr/>
        </p:nvSpPr>
        <p:spPr>
          <a:xfrm>
            <a:off x="811530" y="5169694"/>
            <a:ext cx="676037" cy="968335"/>
          </a:xfrm>
          <a:prstGeom prst="rect">
            <a:avLst/>
          </a:prstGeom>
          <a:solidFill>
            <a:srgbClr val="4A5F7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22747" y="5527119"/>
            <a:ext cx="253484" cy="25348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613416" y="5338643"/>
            <a:ext cx="2112764" cy="253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650" dirty="0">
                <a:solidFill>
                  <a:srgbClr val="2A2A2A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Semantic Join</a:t>
            </a:r>
            <a:endParaRPr lang="en-US" sz="1650" dirty="0"/>
          </a:p>
        </p:txBody>
      </p:sp>
      <p:sp>
        <p:nvSpPr>
          <p:cNvPr id="15" name="Text 10"/>
          <p:cNvSpPr/>
          <p:nvPr/>
        </p:nvSpPr>
        <p:spPr>
          <a:xfrm>
            <a:off x="1613416" y="5718096"/>
            <a:ext cx="5707737" cy="206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dirty="0">
                <a:solidFill>
                  <a:srgbClr val="2A2A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ST_Contains used to join building polygons with OpenStreetMap POIs.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788670" y="6286738"/>
            <a:ext cx="6724293" cy="1175980"/>
          </a:xfrm>
          <a:prstGeom prst="roundRect">
            <a:avLst>
              <a:gd name="adj" fmla="val 2156"/>
            </a:avLst>
          </a:prstGeom>
          <a:solidFill>
            <a:srgbClr val="FFFFFF"/>
          </a:solidFill>
          <a:ln w="2286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2"/>
          <p:cNvSpPr/>
          <p:nvPr/>
        </p:nvSpPr>
        <p:spPr>
          <a:xfrm>
            <a:off x="811530" y="6309598"/>
            <a:ext cx="676037" cy="1130260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22747" y="6747986"/>
            <a:ext cx="253484" cy="25348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613416" y="6478548"/>
            <a:ext cx="2824639" cy="253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650" dirty="0">
                <a:solidFill>
                  <a:srgbClr val="2A2A2A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~80,000 Essential Buildings</a:t>
            </a:r>
            <a:endParaRPr lang="en-US" sz="1650" dirty="0"/>
          </a:p>
        </p:txBody>
      </p:sp>
      <p:sp>
        <p:nvSpPr>
          <p:cNvPr id="20" name="Text 14"/>
          <p:cNvSpPr/>
          <p:nvPr/>
        </p:nvSpPr>
        <p:spPr>
          <a:xfrm>
            <a:off x="1613416" y="6858000"/>
            <a:ext cx="5707737" cy="412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dirty="0">
                <a:solidFill>
                  <a:srgbClr val="2A2A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Hospitals, schools, and emergency services identified for prioritized risk analysis.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7932777" y="2863810"/>
            <a:ext cx="4225528" cy="506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50"/>
              </a:lnSpc>
              <a:buNone/>
            </a:pPr>
            <a:r>
              <a:rPr lang="en-US" sz="3300" dirty="0">
                <a:solidFill>
                  <a:srgbClr val="171717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Key Outcome</a:t>
            </a:r>
            <a:endParaRPr lang="en-US" sz="3300" dirty="0"/>
          </a:p>
        </p:txBody>
      </p:sp>
      <p:sp>
        <p:nvSpPr>
          <p:cNvPr id="22" name="Shape 16"/>
          <p:cNvSpPr/>
          <p:nvPr/>
        </p:nvSpPr>
        <p:spPr>
          <a:xfrm>
            <a:off x="7932777" y="3512463"/>
            <a:ext cx="5916454" cy="1336715"/>
          </a:xfrm>
          <a:prstGeom prst="roundRect">
            <a:avLst>
              <a:gd name="adj" fmla="val 1897"/>
            </a:avLst>
          </a:prstGeom>
          <a:solidFill>
            <a:srgbClr val="1717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17"/>
          <p:cNvSpPr/>
          <p:nvPr/>
        </p:nvSpPr>
        <p:spPr>
          <a:xfrm>
            <a:off x="8101727" y="3681413"/>
            <a:ext cx="2620804" cy="253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Infrastructure-Aware Risk</a:t>
            </a:r>
            <a:endParaRPr lang="en-US" sz="1650" dirty="0"/>
          </a:p>
        </p:txBody>
      </p:sp>
      <p:sp>
        <p:nvSpPr>
          <p:cNvPr id="24" name="Text 18"/>
          <p:cNvSpPr/>
          <p:nvPr/>
        </p:nvSpPr>
        <p:spPr>
          <a:xfrm>
            <a:off x="8101727" y="4060865"/>
            <a:ext cx="5578554" cy="619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Essential buildings are pre-classified, enabling the system to immediately surface the most critical at-risk assets during any fire event.</a:t>
            </a:r>
            <a:endParaRPr lang="en-US" sz="13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5B62D5F9-3B09-731B-5281-2F93396C487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flipV="1">
            <a:off x="12862084" y="7481734"/>
            <a:ext cx="1714531" cy="656344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BA192285-12CB-E10F-D246-4287258BD94E}"/>
              </a:ext>
            </a:extLst>
          </p:cNvPr>
          <p:cNvSpPr txBox="1"/>
          <p:nvPr/>
        </p:nvSpPr>
        <p:spPr>
          <a:xfrm>
            <a:off x="14031590" y="7625240"/>
            <a:ext cx="3803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2401193-DB80-1C5B-CD61-E10661A93184}"/>
              </a:ext>
            </a:extLst>
          </p:cNvPr>
          <p:cNvSpPr/>
          <p:nvPr/>
        </p:nvSpPr>
        <p:spPr>
          <a:xfrm>
            <a:off x="-53786" y="-17393"/>
            <a:ext cx="14793516" cy="2590213"/>
          </a:xfrm>
          <a:prstGeom prst="rect">
            <a:avLst/>
          </a:prstGeom>
          <a:blipFill>
            <a:blip r:embed="rId11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66167" y="3364349"/>
            <a:ext cx="1241227" cy="372070"/>
          </a:xfrm>
          <a:prstGeom prst="roundRect">
            <a:avLst>
              <a:gd name="adj" fmla="val 7061"/>
            </a:avLst>
          </a:prstGeom>
          <a:solidFill>
            <a:srgbClr val="E6E6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1"/>
          <p:cNvSpPr/>
          <p:nvPr/>
        </p:nvSpPr>
        <p:spPr>
          <a:xfrm>
            <a:off x="897493" y="3429953"/>
            <a:ext cx="978575" cy="240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50" dirty="0">
                <a:solidFill>
                  <a:srgbClr val="2A2A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MAIN WORK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766167" y="3820835"/>
            <a:ext cx="6370082" cy="656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en-US" sz="4300" dirty="0">
                <a:solidFill>
                  <a:srgbClr val="171717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Real-Time Risk Modeling</a:t>
            </a:r>
            <a:endParaRPr lang="en-US" sz="4300" dirty="0"/>
          </a:p>
        </p:txBody>
      </p:sp>
      <p:sp>
        <p:nvSpPr>
          <p:cNvPr id="6" name="Shape 3"/>
          <p:cNvSpPr/>
          <p:nvPr/>
        </p:nvSpPr>
        <p:spPr>
          <a:xfrm>
            <a:off x="766167" y="4794409"/>
            <a:ext cx="4225171" cy="2807137"/>
          </a:xfrm>
          <a:prstGeom prst="roundRect">
            <a:avLst>
              <a:gd name="adj" fmla="val 1170"/>
            </a:avLst>
          </a:prstGeom>
          <a:solidFill>
            <a:srgbClr val="FFFFFF"/>
          </a:solidFill>
          <a:ln w="30480">
            <a:solidFill>
              <a:srgbClr val="1717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796647" y="4824889"/>
            <a:ext cx="4164211" cy="656749"/>
          </a:xfrm>
          <a:prstGeom prst="rect">
            <a:avLst/>
          </a:prstGeom>
          <a:solidFill>
            <a:srgbClr val="17171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14506" y="4988957"/>
            <a:ext cx="328374" cy="32837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15484" y="5692854"/>
            <a:ext cx="2852618" cy="328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150" dirty="0">
                <a:solidFill>
                  <a:srgbClr val="2A2A2A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Geospatial Reasoning</a:t>
            </a:r>
            <a:endParaRPr lang="en-US" sz="2150" dirty="0"/>
          </a:p>
        </p:txBody>
      </p:sp>
      <p:sp>
        <p:nvSpPr>
          <p:cNvPr id="10" name="Text 6"/>
          <p:cNvSpPr/>
          <p:nvPr/>
        </p:nvSpPr>
        <p:spPr>
          <a:xfrm>
            <a:off x="1015484" y="6147792"/>
            <a:ext cx="3726537" cy="9033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700" dirty="0">
                <a:solidFill>
                  <a:srgbClr val="2A2A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Incoming fire events are transformed into geometric risk regions projected onto the map.</a:t>
            </a:r>
            <a:endParaRPr lang="en-US" sz="1700" dirty="0"/>
          </a:p>
        </p:txBody>
      </p:sp>
      <p:sp>
        <p:nvSpPr>
          <p:cNvPr id="11" name="Shape 7"/>
          <p:cNvSpPr/>
          <p:nvPr/>
        </p:nvSpPr>
        <p:spPr>
          <a:xfrm>
            <a:off x="5202555" y="4794409"/>
            <a:ext cx="4225171" cy="2807137"/>
          </a:xfrm>
          <a:prstGeom prst="roundRect">
            <a:avLst>
              <a:gd name="adj" fmla="val 1170"/>
            </a:avLst>
          </a:prstGeom>
          <a:solidFill>
            <a:srgbClr val="FFFFFF"/>
          </a:solidFill>
          <a:ln w="30480">
            <a:solidFill>
              <a:srgbClr val="4A5F7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8"/>
          <p:cNvSpPr/>
          <p:nvPr/>
        </p:nvSpPr>
        <p:spPr>
          <a:xfrm>
            <a:off x="5233035" y="4824889"/>
            <a:ext cx="4164211" cy="656749"/>
          </a:xfrm>
          <a:prstGeom prst="rect">
            <a:avLst/>
          </a:prstGeom>
          <a:solidFill>
            <a:srgbClr val="4A5F7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50894" y="4988957"/>
            <a:ext cx="328374" cy="32837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451872" y="5692854"/>
            <a:ext cx="2736413" cy="328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150" dirty="0">
                <a:solidFill>
                  <a:srgbClr val="2A2A2A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Directional Model</a:t>
            </a:r>
            <a:endParaRPr lang="en-US" sz="2150" dirty="0"/>
          </a:p>
        </p:txBody>
      </p:sp>
      <p:sp>
        <p:nvSpPr>
          <p:cNvPr id="15" name="Text 10"/>
          <p:cNvSpPr/>
          <p:nvPr/>
        </p:nvSpPr>
        <p:spPr>
          <a:xfrm>
            <a:off x="5451872" y="6147792"/>
            <a:ext cx="3726537" cy="9033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700" dirty="0">
                <a:solidFill>
                  <a:srgbClr val="2A2A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Evolved from simple circular buffers to cone-shaped regions influenced by wind speed and direction.</a:t>
            </a:r>
            <a:endParaRPr lang="en-US" sz="1700" dirty="0"/>
          </a:p>
        </p:txBody>
      </p:sp>
      <p:sp>
        <p:nvSpPr>
          <p:cNvPr id="16" name="Shape 11"/>
          <p:cNvSpPr/>
          <p:nvPr/>
        </p:nvSpPr>
        <p:spPr>
          <a:xfrm>
            <a:off x="9638943" y="4794409"/>
            <a:ext cx="4225171" cy="2807137"/>
          </a:xfrm>
          <a:prstGeom prst="roundRect">
            <a:avLst>
              <a:gd name="adj" fmla="val 1170"/>
            </a:avLst>
          </a:prstGeom>
          <a:solidFill>
            <a:srgbClr val="FFFFFF"/>
          </a:solidFill>
          <a:ln w="3048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2"/>
          <p:cNvSpPr/>
          <p:nvPr/>
        </p:nvSpPr>
        <p:spPr>
          <a:xfrm>
            <a:off x="9669423" y="4824889"/>
            <a:ext cx="4164211" cy="656749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587282" y="4988957"/>
            <a:ext cx="328374" cy="32837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888260" y="5692854"/>
            <a:ext cx="3542943" cy="328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150" dirty="0">
                <a:solidFill>
                  <a:srgbClr val="2A2A2A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Infrastructure Intersection</a:t>
            </a:r>
            <a:endParaRPr lang="en-US" sz="2150" dirty="0"/>
          </a:p>
        </p:txBody>
      </p:sp>
      <p:sp>
        <p:nvSpPr>
          <p:cNvPr id="20" name="Text 14"/>
          <p:cNvSpPr/>
          <p:nvPr/>
        </p:nvSpPr>
        <p:spPr>
          <a:xfrm>
            <a:off x="9888260" y="6147792"/>
            <a:ext cx="3726537" cy="12044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700" dirty="0">
                <a:solidFill>
                  <a:srgbClr val="2A2A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System identifies infrastructure within the predicted spread zone and generates prioritized alert records.</a:t>
            </a:r>
            <a:endParaRPr lang="en-US" sz="17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6AD2305D-E234-105B-8494-E3E61FF3DC9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flipV="1">
            <a:off x="12794456" y="7651135"/>
            <a:ext cx="1782159" cy="48694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103A18A3-99A6-CB40-5E66-956C6B11FCAB}"/>
              </a:ext>
            </a:extLst>
          </p:cNvPr>
          <p:cNvSpPr txBox="1"/>
          <p:nvPr/>
        </p:nvSpPr>
        <p:spPr>
          <a:xfrm>
            <a:off x="14031590" y="7625240"/>
            <a:ext cx="3803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7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D75B5AD-CD83-1628-2443-09CCDDBF6202}"/>
              </a:ext>
            </a:extLst>
          </p:cNvPr>
          <p:cNvSpPr/>
          <p:nvPr/>
        </p:nvSpPr>
        <p:spPr>
          <a:xfrm>
            <a:off x="-53786" y="-17393"/>
            <a:ext cx="14793516" cy="2590213"/>
          </a:xfrm>
          <a:prstGeom prst="rect">
            <a:avLst/>
          </a:prstGeom>
          <a:blipFill>
            <a:blip r:embed="rId10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93790" y="3074551"/>
            <a:ext cx="1120616" cy="315158"/>
          </a:xfrm>
          <a:prstGeom prst="roundRect">
            <a:avLst>
              <a:gd name="adj" fmla="val 7341"/>
            </a:avLst>
          </a:prstGeom>
          <a:solidFill>
            <a:srgbClr val="E6E6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1"/>
          <p:cNvSpPr/>
          <p:nvPr/>
        </p:nvSpPr>
        <p:spPr>
          <a:xfrm>
            <a:off x="909399" y="3132296"/>
            <a:ext cx="889397" cy="199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00" dirty="0">
                <a:solidFill>
                  <a:srgbClr val="2A2A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EVALUATION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793790" y="3455194"/>
            <a:ext cx="8669179" cy="578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50"/>
              </a:lnSpc>
              <a:buNone/>
            </a:pPr>
            <a:r>
              <a:rPr lang="en-US" sz="3750" dirty="0">
                <a:solidFill>
                  <a:srgbClr val="171717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Evaluation Methodology &amp; Scalability</a:t>
            </a:r>
            <a:endParaRPr lang="en-US" sz="3750" dirty="0"/>
          </a:p>
        </p:txBody>
      </p:sp>
      <p:sp>
        <p:nvSpPr>
          <p:cNvPr id="6" name="Text 3"/>
          <p:cNvSpPr/>
          <p:nvPr/>
        </p:nvSpPr>
        <p:spPr>
          <a:xfrm>
            <a:off x="1109663" y="4375547"/>
            <a:ext cx="3579257" cy="636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000"/>
              </a:lnSpc>
              <a:buNone/>
            </a:pPr>
            <a:r>
              <a:rPr lang="en-US" sz="5000" dirty="0">
                <a:solidFill>
                  <a:srgbClr val="2A2A2A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&lt;5s</a:t>
            </a:r>
            <a:endParaRPr lang="en-US" sz="5000" dirty="0"/>
          </a:p>
        </p:txBody>
      </p:sp>
      <p:sp>
        <p:nvSpPr>
          <p:cNvPr id="7" name="Text 4"/>
          <p:cNvSpPr/>
          <p:nvPr/>
        </p:nvSpPr>
        <p:spPr>
          <a:xfrm>
            <a:off x="1694259" y="5230892"/>
            <a:ext cx="2409944" cy="289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850" dirty="0">
                <a:solidFill>
                  <a:srgbClr val="2A2A2A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City-Scale Load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793790" y="5618202"/>
            <a:ext cx="4211003" cy="499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500" dirty="0">
                <a:solidFill>
                  <a:srgbClr val="2A2A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Buildings + alerts rendered in under 5 seconds for a full city-scale view.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525453" y="4375547"/>
            <a:ext cx="3579376" cy="636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000"/>
              </a:lnSpc>
              <a:buNone/>
            </a:pPr>
            <a:r>
              <a:rPr lang="en-US" sz="5000" dirty="0">
                <a:solidFill>
                  <a:srgbClr val="2A2A2A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11.5M</a:t>
            </a:r>
            <a:endParaRPr lang="en-US" sz="5000" dirty="0"/>
          </a:p>
        </p:txBody>
      </p:sp>
      <p:sp>
        <p:nvSpPr>
          <p:cNvPr id="10" name="Text 7"/>
          <p:cNvSpPr/>
          <p:nvPr/>
        </p:nvSpPr>
        <p:spPr>
          <a:xfrm>
            <a:off x="6110168" y="5230892"/>
            <a:ext cx="2409944" cy="289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850" dirty="0">
                <a:solidFill>
                  <a:srgbClr val="2A2A2A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Building Polygons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5209580" y="5618202"/>
            <a:ext cx="4211122" cy="499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500" dirty="0">
                <a:solidFill>
                  <a:srgbClr val="2A2A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Statewide California dataset processed with H3 indexing for multi-resolution access.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9941362" y="4375547"/>
            <a:ext cx="3579257" cy="636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000"/>
              </a:lnSpc>
              <a:buNone/>
            </a:pPr>
            <a:r>
              <a:rPr lang="en-US" sz="5000" dirty="0">
                <a:solidFill>
                  <a:srgbClr val="2A2A2A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~80K</a:t>
            </a:r>
            <a:endParaRPr lang="en-US" sz="5000" dirty="0"/>
          </a:p>
        </p:txBody>
      </p:sp>
      <p:sp>
        <p:nvSpPr>
          <p:cNvPr id="13" name="Text 10"/>
          <p:cNvSpPr/>
          <p:nvPr/>
        </p:nvSpPr>
        <p:spPr>
          <a:xfrm>
            <a:off x="10525958" y="5230892"/>
            <a:ext cx="2409944" cy="289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850" dirty="0">
                <a:solidFill>
                  <a:srgbClr val="2A2A2A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Essential Buildings</a:t>
            </a:r>
            <a:endParaRPr lang="en-US" sz="1850" dirty="0"/>
          </a:p>
        </p:txBody>
      </p:sp>
      <p:sp>
        <p:nvSpPr>
          <p:cNvPr id="14" name="Text 11"/>
          <p:cNvSpPr/>
          <p:nvPr/>
        </p:nvSpPr>
        <p:spPr>
          <a:xfrm>
            <a:off x="9625489" y="5618202"/>
            <a:ext cx="4211003" cy="499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500" dirty="0">
                <a:solidFill>
                  <a:srgbClr val="2A2A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Critical infrastructure pre-identified for fast prioritized alerting.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793790" y="6465451"/>
            <a:ext cx="2409944" cy="289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50" dirty="0">
                <a:solidFill>
                  <a:srgbClr val="171717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H3 Indexing</a:t>
            </a:r>
            <a:endParaRPr lang="en-US" sz="1850" dirty="0"/>
          </a:p>
        </p:txBody>
      </p:sp>
      <p:sp>
        <p:nvSpPr>
          <p:cNvPr id="16" name="Text 13"/>
          <p:cNvSpPr/>
          <p:nvPr/>
        </p:nvSpPr>
        <p:spPr>
          <a:xfrm>
            <a:off x="793790" y="6918365"/>
            <a:ext cx="6286262" cy="499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dirty="0">
                <a:solidFill>
                  <a:srgbClr val="2A2A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Statewide data aggregated into coarse cells; finer details load only when zooming in, reducing render overhead dramatically.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7557968" y="6465451"/>
            <a:ext cx="2409944" cy="289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50" dirty="0">
                <a:solidFill>
                  <a:srgbClr val="171717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Partition Pruning</a:t>
            </a:r>
            <a:endParaRPr lang="en-US" sz="1850" dirty="0"/>
          </a:p>
        </p:txBody>
      </p:sp>
      <p:sp>
        <p:nvSpPr>
          <p:cNvPr id="18" name="Text 15"/>
          <p:cNvSpPr/>
          <p:nvPr/>
        </p:nvSpPr>
        <p:spPr>
          <a:xfrm>
            <a:off x="7557968" y="6918365"/>
            <a:ext cx="6286262" cy="499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dirty="0">
                <a:solidFill>
                  <a:srgbClr val="2A2A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Restricted GeoParquet reads to specific spatial regions, avoiding full dataset scans and speeding up queries.</a:t>
            </a:r>
            <a:endParaRPr lang="en-US" sz="15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9BED754-261F-E1E1-BCF1-34B1A03503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V="1">
            <a:off x="12794456" y="7651135"/>
            <a:ext cx="1782159" cy="48694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8890436E-483F-A506-BD4B-AFA7C011FB31}"/>
              </a:ext>
            </a:extLst>
          </p:cNvPr>
          <p:cNvSpPr txBox="1"/>
          <p:nvPr/>
        </p:nvSpPr>
        <p:spPr>
          <a:xfrm>
            <a:off x="14031590" y="7625240"/>
            <a:ext cx="3803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8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2A15281-BD45-F817-AA60-BF0AB8ED02D4}"/>
              </a:ext>
            </a:extLst>
          </p:cNvPr>
          <p:cNvSpPr/>
          <p:nvPr/>
        </p:nvSpPr>
        <p:spPr>
          <a:xfrm>
            <a:off x="-53786" y="-17393"/>
            <a:ext cx="14793516" cy="2590213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93790" y="1016794"/>
            <a:ext cx="1318141" cy="389930"/>
          </a:xfrm>
          <a:prstGeom prst="roundRect">
            <a:avLst>
              <a:gd name="adj" fmla="val 6981"/>
            </a:avLst>
          </a:prstGeom>
          <a:solidFill>
            <a:srgbClr val="E6E6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1"/>
          <p:cNvSpPr/>
          <p:nvPr/>
        </p:nvSpPr>
        <p:spPr>
          <a:xfrm>
            <a:off x="929878" y="1084778"/>
            <a:ext cx="1045964" cy="253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2A2A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EVALUATION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93790" y="1497449"/>
            <a:ext cx="6219230" cy="680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50"/>
              </a:lnSpc>
              <a:buNone/>
            </a:pPr>
            <a:r>
              <a:rPr lang="en-US" sz="4450" dirty="0">
                <a:solidFill>
                  <a:srgbClr val="171717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Simulation &amp; Evaluation</a:t>
            </a:r>
            <a:endParaRPr lang="en-US" sz="4450" dirty="0"/>
          </a:p>
        </p:txBody>
      </p:sp>
      <p:sp>
        <p:nvSpPr>
          <p:cNvPr id="6" name="Text 3"/>
          <p:cNvSpPr/>
          <p:nvPr/>
        </p:nvSpPr>
        <p:spPr>
          <a:xfrm>
            <a:off x="793790" y="2268617"/>
            <a:ext cx="2835235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200" dirty="0">
                <a:solidFill>
                  <a:srgbClr val="171717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Scenario Testing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93790" y="2948940"/>
            <a:ext cx="75564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750" dirty="0">
                <a:solidFill>
                  <a:srgbClr val="2A2A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Validated via interactive simulations where users inject fire events with custom weather data parameters.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793790" y="3924181"/>
            <a:ext cx="2835235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200" dirty="0">
                <a:solidFill>
                  <a:srgbClr val="171717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Results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93790" y="4604504"/>
            <a:ext cx="755642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750" dirty="0">
                <a:solidFill>
                  <a:srgbClr val="2A2A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System successfully generated intuitive risk regions that correctly highlighted at-risk infrastructure in the dashboard across all tested scenarios.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793790" y="5897285"/>
            <a:ext cx="2835235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200" dirty="0">
                <a:solidFill>
                  <a:srgbClr val="171717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Responsiveness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793790" y="6577608"/>
            <a:ext cx="75564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750" dirty="0">
                <a:solidFill>
                  <a:srgbClr val="2A2A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Decoupling DuckDB from Kafka ensures the UI remains stable and performant during high-throughput ingestion bursts.</a:t>
            </a:r>
            <a:endParaRPr lang="en-US" sz="175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FBE3CBC-0629-D028-935D-B29AC943F971}"/>
              </a:ext>
            </a:extLst>
          </p:cNvPr>
          <p:cNvSpPr txBox="1"/>
          <p:nvPr/>
        </p:nvSpPr>
        <p:spPr>
          <a:xfrm>
            <a:off x="14031590" y="7625240"/>
            <a:ext cx="3803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2361" y="626269"/>
            <a:ext cx="1204555" cy="314444"/>
          </a:xfrm>
          <a:prstGeom prst="roundRect">
            <a:avLst>
              <a:gd name="adj" fmla="val 7344"/>
            </a:avLst>
          </a:prstGeom>
          <a:solidFill>
            <a:srgbClr val="E6E6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907733" y="683895"/>
            <a:ext cx="973812" cy="1991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00" dirty="0">
                <a:solidFill>
                  <a:srgbClr val="2A2A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92361" y="1005959"/>
            <a:ext cx="7119938" cy="5773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750" dirty="0">
                <a:solidFill>
                  <a:srgbClr val="171717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Conclusion &amp; Future Directions</a:t>
            </a:r>
            <a:endParaRPr lang="en-US" sz="3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361" y="1828205"/>
            <a:ext cx="4348520" cy="76973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84766" y="2761178"/>
            <a:ext cx="2405539" cy="288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50" dirty="0">
                <a:solidFill>
                  <a:srgbClr val="2A2A2A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Live Data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984766" y="3147655"/>
            <a:ext cx="3963710" cy="3983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00" dirty="0">
                <a:solidFill>
                  <a:srgbClr val="2A2A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Transition from simulated events to live NASA FIRMS fire data feeds</a:t>
            </a:r>
            <a:endParaRPr lang="en-US" sz="12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0881" y="1828205"/>
            <a:ext cx="4348520" cy="76973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333286" y="2761178"/>
            <a:ext cx="2405539" cy="288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50" dirty="0">
                <a:solidFill>
                  <a:srgbClr val="2A2A2A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Terrain Dynamics</a:t>
            </a:r>
            <a:endParaRPr lang="en-US" sz="1850" dirty="0"/>
          </a:p>
        </p:txBody>
      </p:sp>
      <p:sp>
        <p:nvSpPr>
          <p:cNvPr id="10" name="Text 6"/>
          <p:cNvSpPr/>
          <p:nvPr/>
        </p:nvSpPr>
        <p:spPr>
          <a:xfrm>
            <a:off x="5333286" y="3147655"/>
            <a:ext cx="3963710" cy="3983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00" dirty="0">
                <a:solidFill>
                  <a:srgbClr val="2A2A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Incorporate terrain elevation and fuel load data for higher-fidelity spread modeling</a:t>
            </a:r>
            <a:endParaRPr lang="en-US" sz="12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89400" y="1828205"/>
            <a:ext cx="4348520" cy="76973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681805" y="2761178"/>
            <a:ext cx="2405539" cy="288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50" dirty="0">
                <a:solidFill>
                  <a:srgbClr val="2A2A2A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Decision Support</a:t>
            </a:r>
            <a:endParaRPr lang="en-US" sz="1850" dirty="0"/>
          </a:p>
        </p:txBody>
      </p:sp>
      <p:sp>
        <p:nvSpPr>
          <p:cNvPr id="13" name="Text 8"/>
          <p:cNvSpPr/>
          <p:nvPr/>
        </p:nvSpPr>
        <p:spPr>
          <a:xfrm>
            <a:off x="9681805" y="3147655"/>
            <a:ext cx="3963710" cy="3983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00" dirty="0">
                <a:solidFill>
                  <a:srgbClr val="2A2A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Expand "what-if" analysis tools for emergency planners and decision-makers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792361" y="4085273"/>
            <a:ext cx="2405539" cy="288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50" dirty="0">
                <a:solidFill>
                  <a:srgbClr val="171717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Key Takeaways</a:t>
            </a:r>
            <a:endParaRPr lang="en-US" sz="1850" dirty="0"/>
          </a:p>
        </p:txBody>
      </p:sp>
      <p:sp>
        <p:nvSpPr>
          <p:cNvPr id="15" name="Shape 10"/>
          <p:cNvSpPr/>
          <p:nvPr/>
        </p:nvSpPr>
        <p:spPr>
          <a:xfrm>
            <a:off x="792361" y="4557474"/>
            <a:ext cx="8991124" cy="928211"/>
          </a:xfrm>
          <a:prstGeom prst="roundRect">
            <a:avLst>
              <a:gd name="adj" fmla="val 11821"/>
            </a:avLst>
          </a:prstGeom>
          <a:solidFill>
            <a:srgbClr val="FFFFFF"/>
          </a:solidFill>
          <a:ln w="22860">
            <a:solidFill>
              <a:srgbClr val="1717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1"/>
          <p:cNvSpPr/>
          <p:nvPr/>
        </p:nvSpPr>
        <p:spPr>
          <a:xfrm>
            <a:off x="769501" y="4557474"/>
            <a:ext cx="91440" cy="928211"/>
          </a:xfrm>
          <a:prstGeom prst="roundRect">
            <a:avLst>
              <a:gd name="adj" fmla="val 31569"/>
            </a:avLst>
          </a:prstGeom>
          <a:solidFill>
            <a:srgbClr val="1717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2"/>
          <p:cNvSpPr/>
          <p:nvPr/>
        </p:nvSpPr>
        <p:spPr>
          <a:xfrm>
            <a:off x="1076206" y="4772739"/>
            <a:ext cx="8492014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dirty="0">
                <a:solidFill>
                  <a:srgbClr val="2A2A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Built a scalable, multi-resolution digital twin using a modern big data stack: Kafka, Spark, Sedona, DuckDB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>
            <a:off x="792361" y="5648920"/>
            <a:ext cx="8991124" cy="928211"/>
          </a:xfrm>
          <a:prstGeom prst="roundRect">
            <a:avLst>
              <a:gd name="adj" fmla="val 11821"/>
            </a:avLst>
          </a:prstGeom>
          <a:solidFill>
            <a:srgbClr val="FFFFFF"/>
          </a:solidFill>
          <a:ln w="22860">
            <a:solidFill>
              <a:srgbClr val="4A5F7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4"/>
          <p:cNvSpPr/>
          <p:nvPr/>
        </p:nvSpPr>
        <p:spPr>
          <a:xfrm>
            <a:off x="769501" y="5648920"/>
            <a:ext cx="91440" cy="928211"/>
          </a:xfrm>
          <a:prstGeom prst="roundRect">
            <a:avLst>
              <a:gd name="adj" fmla="val 31569"/>
            </a:avLst>
          </a:prstGeom>
          <a:solidFill>
            <a:srgbClr val="4A5F7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5"/>
          <p:cNvSpPr/>
          <p:nvPr/>
        </p:nvSpPr>
        <p:spPr>
          <a:xfrm>
            <a:off x="1076206" y="5864185"/>
            <a:ext cx="8492014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dirty="0">
                <a:solidFill>
                  <a:srgbClr val="2A2A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Enables "what-if" analysis for decision-makers to explore potential fire impacts under varying conditions</a:t>
            </a:r>
            <a:endParaRPr lang="en-US" sz="1500" dirty="0"/>
          </a:p>
        </p:txBody>
      </p:sp>
      <p:sp>
        <p:nvSpPr>
          <p:cNvPr id="21" name="Shape 16"/>
          <p:cNvSpPr/>
          <p:nvPr/>
        </p:nvSpPr>
        <p:spPr>
          <a:xfrm>
            <a:off x="792361" y="6740366"/>
            <a:ext cx="8991124" cy="679371"/>
          </a:xfrm>
          <a:prstGeom prst="roundRect">
            <a:avLst>
              <a:gd name="adj" fmla="val 16151"/>
            </a:avLst>
          </a:prstGeom>
          <a:solidFill>
            <a:srgbClr val="FFFFFF"/>
          </a:solidFill>
          <a:ln w="2286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17"/>
          <p:cNvSpPr/>
          <p:nvPr/>
        </p:nvSpPr>
        <p:spPr>
          <a:xfrm>
            <a:off x="769501" y="6740366"/>
            <a:ext cx="91440" cy="679371"/>
          </a:xfrm>
          <a:prstGeom prst="roundRect">
            <a:avLst>
              <a:gd name="adj" fmla="val 31569"/>
            </a:avLst>
          </a:prstGeom>
          <a:solidFill>
            <a:srgbClr val="2A2A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18"/>
          <p:cNvSpPr/>
          <p:nvPr/>
        </p:nvSpPr>
        <p:spPr>
          <a:xfrm>
            <a:off x="1076206" y="6955631"/>
            <a:ext cx="8492014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dirty="0">
                <a:solidFill>
                  <a:srgbClr val="2A2A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End-to-end pipeline from live event ingestion to infrastructure-aware geospatial dashboard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10260449" y="4085273"/>
            <a:ext cx="3585091" cy="796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250"/>
              </a:lnSpc>
              <a:buNone/>
            </a:pPr>
            <a:r>
              <a:rPr lang="en-US" sz="5200" dirty="0">
                <a:solidFill>
                  <a:srgbClr val="171717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25" name="Text 20"/>
          <p:cNvSpPr/>
          <p:nvPr/>
        </p:nvSpPr>
        <p:spPr>
          <a:xfrm>
            <a:off x="10260449" y="5045154"/>
            <a:ext cx="3585091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dirty="0">
                <a:solidFill>
                  <a:srgbClr val="2A2A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Questions and Discussion</a:t>
            </a:r>
            <a:endParaRPr lang="en-US" sz="15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84F3AFA1-87E3-141F-39AC-C9B6E6211B9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V="1">
            <a:off x="12794456" y="7651135"/>
            <a:ext cx="1782159" cy="486940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CA7E57C6-8B44-614A-FEF4-1CAAE59AF012}"/>
              </a:ext>
            </a:extLst>
          </p:cNvPr>
          <p:cNvSpPr txBox="1"/>
          <p:nvPr/>
        </p:nvSpPr>
        <p:spPr>
          <a:xfrm>
            <a:off x="13958760" y="7625240"/>
            <a:ext cx="45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698</Words>
  <Application>Microsoft Office PowerPoint</Application>
  <PresentationFormat>Custom</PresentationFormat>
  <Paragraphs>123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Space Grotesk Medium</vt:lpstr>
      <vt:lpstr>Consolas</vt:lpstr>
      <vt:lpstr>DM Sans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rahul</dc:creator>
  <cp:lastModifiedBy>Prince Savsaviya</cp:lastModifiedBy>
  <cp:revision>2</cp:revision>
  <dcterms:created xsi:type="dcterms:W3CDTF">2026-03-18T02:54:59Z</dcterms:created>
  <dcterms:modified xsi:type="dcterms:W3CDTF">2026-03-18T05:48:29Z</dcterms:modified>
</cp:coreProperties>
</file>